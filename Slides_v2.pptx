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cUxnFb/+6zvXkncQGnYag0LF3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regular.fntdata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>
            <p:ph type="ctrTitle"/>
          </p:nvPr>
        </p:nvSpPr>
        <p:spPr>
          <a:xfrm>
            <a:off x="1524000" y="1293338"/>
            <a:ext cx="9144000" cy="327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Times New Roman"/>
              <a:buNone/>
            </a:pPr>
            <a:r>
              <a:rPr b="1" lang="en-US" sz="7200">
                <a:latin typeface="Times New Roman"/>
                <a:ea typeface="Times New Roman"/>
                <a:cs typeface="Times New Roman"/>
                <a:sym typeface="Times New Roman"/>
              </a:rPr>
              <a:t>Exploring Crime Clearance in Austin</a:t>
            </a:r>
            <a:endParaRPr sz="7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1524000" y="5514052"/>
            <a:ext cx="9144000" cy="651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Charlie Miner and Prashant Aryal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9" name="Google Shape;89;p1"/>
          <p:cNvCxnSpPr/>
          <p:nvPr/>
        </p:nvCxnSpPr>
        <p:spPr>
          <a:xfrm rot="10800000">
            <a:off x="596464" y="6354708"/>
            <a:ext cx="11000232" cy="0"/>
          </a:xfrm>
          <a:prstGeom prst="straightConnector1">
            <a:avLst/>
          </a:prstGeom>
          <a:noFill/>
          <a:ln cap="flat" cmpd="sng" w="101600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>
            <p:ph type="title"/>
          </p:nvPr>
        </p:nvSpPr>
        <p:spPr>
          <a:xfrm>
            <a:off x="635000" y="640823"/>
            <a:ext cx="3418659" cy="5583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b="1" lang="en-US" sz="5400">
                <a:latin typeface="Times New Roman"/>
                <a:ea typeface="Times New Roman"/>
                <a:cs typeface="Times New Roman"/>
                <a:sym typeface="Times New Roman"/>
              </a:rPr>
              <a:t>Our question and data</a:t>
            </a:r>
            <a:br>
              <a:rPr lang="en-US" sz="5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/>
          <p:nvPr/>
        </p:nvSpPr>
        <p:spPr>
          <a:xfrm rot="5400000">
            <a:off x="1627450" y="3462719"/>
            <a:ext cx="5410200" cy="18288"/>
          </a:xfrm>
          <a:custGeom>
            <a:rect b="b" l="l" r="r" t="t"/>
            <a:pathLst>
              <a:path extrusionOk="0" fill="none" h="18288" w="541020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extrusionOk="0" h="18288" w="541020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2"/>
          <p:cNvGrpSpPr/>
          <p:nvPr/>
        </p:nvGrpSpPr>
        <p:grpSpPr>
          <a:xfrm>
            <a:off x="4648018" y="640822"/>
            <a:ext cx="6900512" cy="5536140"/>
            <a:chOff x="0" y="0"/>
            <a:chExt cx="6900512" cy="5536140"/>
          </a:xfrm>
        </p:grpSpPr>
        <p:cxnSp>
          <p:nvCxnSpPr>
            <p:cNvPr id="98" name="Google Shape;98;p2"/>
            <p:cNvCxnSpPr/>
            <p:nvPr/>
          </p:nvCxnSpPr>
          <p:spPr>
            <a:xfrm>
              <a:off x="0" y="0"/>
              <a:ext cx="6900512" cy="0"/>
            </a:xfrm>
            <a:prstGeom prst="straightConnector1">
              <a:avLst/>
            </a:prstGeom>
            <a:solidFill>
              <a:srgbClr val="E77132"/>
            </a:solidFill>
            <a:ln cap="flat" cmpd="sng" w="19050">
              <a:solidFill>
                <a:srgbClr val="E7713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99" name="Google Shape;99;p2"/>
            <p:cNvSpPr/>
            <p:nvPr/>
          </p:nvSpPr>
          <p:spPr>
            <a:xfrm>
              <a:off x="0" y="0"/>
              <a:ext cx="6900512" cy="13840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0"/>
              <a:ext cx="6900512" cy="13840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4775" lIns="144775" spcFirstLastPara="1" rIns="144775" wrap="square" tIns="1447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800"/>
                <a:buFont typeface="Times New Roman"/>
                <a:buNone/>
              </a:pPr>
              <a:r>
                <a:rPr b="0" i="0" lang="en-US" sz="3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What happens to crime cases, and how long do cleared cases take?</a:t>
              </a:r>
              <a:endParaRPr/>
            </a:p>
          </p:txBody>
        </p:sp>
        <p:cxnSp>
          <p:nvCxnSpPr>
            <p:cNvPr id="101" name="Google Shape;101;p2"/>
            <p:cNvCxnSpPr/>
            <p:nvPr/>
          </p:nvCxnSpPr>
          <p:spPr>
            <a:xfrm>
              <a:off x="0" y="1384035"/>
              <a:ext cx="6900512" cy="0"/>
            </a:xfrm>
            <a:prstGeom prst="straightConnector1">
              <a:avLst/>
            </a:prstGeom>
            <a:solidFill>
              <a:schemeClr val="accent3"/>
            </a:solidFill>
            <a:ln cap="flat" cmpd="sng" w="19050">
              <a:solidFill>
                <a:schemeClr val="accent3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102" name="Google Shape;102;p2"/>
            <p:cNvSpPr/>
            <p:nvPr/>
          </p:nvSpPr>
          <p:spPr>
            <a:xfrm>
              <a:off x="0" y="1384035"/>
              <a:ext cx="6900512" cy="13840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1384035"/>
              <a:ext cx="6900512" cy="13840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4775" lIns="144775" spcFirstLastPara="1" rIns="144775" wrap="square" tIns="1447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800"/>
                <a:buFont typeface="Times New Roman"/>
                <a:buNone/>
              </a:pPr>
              <a:r>
                <a:rPr b="0" i="0" lang="en-US" sz="3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159,464 Austin crime records from 2014-2015</a:t>
              </a:r>
              <a:endParaRPr/>
            </a:p>
          </p:txBody>
        </p:sp>
        <p:cxnSp>
          <p:nvCxnSpPr>
            <p:cNvPr id="104" name="Google Shape;104;p2"/>
            <p:cNvCxnSpPr/>
            <p:nvPr/>
          </p:nvCxnSpPr>
          <p:spPr>
            <a:xfrm>
              <a:off x="0" y="2768070"/>
              <a:ext cx="6900512" cy="0"/>
            </a:xfrm>
            <a:prstGeom prst="straightConnector1">
              <a:avLst/>
            </a:prstGeom>
            <a:solidFill>
              <a:srgbClr val="0F9BD4"/>
            </a:solidFill>
            <a:ln cap="flat" cmpd="sng" w="19050">
              <a:solidFill>
                <a:srgbClr val="0F9BD4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105" name="Google Shape;105;p2"/>
            <p:cNvSpPr/>
            <p:nvPr/>
          </p:nvSpPr>
          <p:spPr>
            <a:xfrm>
              <a:off x="0" y="2768070"/>
              <a:ext cx="6900512" cy="13840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2768070"/>
              <a:ext cx="6900512" cy="13840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4775" lIns="144775" spcFirstLastPara="1" rIns="144775" wrap="square" tIns="1447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800"/>
                <a:buFont typeface="Times New Roman"/>
                <a:buNone/>
              </a:pPr>
              <a:r>
                <a:rPr b="0" i="0" lang="en-US" sz="3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We use crime type, district, zip code, status, and dates</a:t>
              </a:r>
              <a:endParaRPr b="0" i="0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7" name="Google Shape;107;p2"/>
            <p:cNvCxnSpPr/>
            <p:nvPr/>
          </p:nvCxnSpPr>
          <p:spPr>
            <a:xfrm>
              <a:off x="0" y="4152105"/>
              <a:ext cx="6900512" cy="0"/>
            </a:xfrm>
            <a:prstGeom prst="straightConnector1">
              <a:avLst/>
            </a:prstGeom>
            <a:solidFill>
              <a:schemeClr val="accent5"/>
            </a:solidFill>
            <a:ln cap="flat" cmpd="sng" w="19050">
              <a:solidFill>
                <a:schemeClr val="accent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108" name="Google Shape;108;p2"/>
            <p:cNvSpPr/>
            <p:nvPr/>
          </p:nvSpPr>
          <p:spPr>
            <a:xfrm>
              <a:off x="0" y="4152105"/>
              <a:ext cx="6900512" cy="13840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4152105"/>
              <a:ext cx="6900512" cy="13840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4775" lIns="144775" spcFirstLastPara="1" rIns="144775" wrap="square" tIns="1447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800"/>
                <a:buFont typeface="Times New Roman"/>
                <a:buNone/>
              </a:pPr>
              <a:r>
                <a:rPr b="0" i="0" lang="en-US" sz="3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70,019 cases for outcomes; 12,673 cleared cases for time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>
            <p:ph type="title"/>
          </p:nvPr>
        </p:nvSpPr>
        <p:spPr>
          <a:xfrm>
            <a:off x="645064" y="525982"/>
            <a:ext cx="4282983" cy="1200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Most cases were not cleared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3"/>
          <p:cNvSpPr/>
          <p:nvPr/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>
            <p:ph idx="1" type="body"/>
          </p:nvPr>
        </p:nvSpPr>
        <p:spPr>
          <a:xfrm>
            <a:off x="645066" y="2031101"/>
            <a:ext cx="4282984" cy="3511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Most cases were not cleared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More cases were cleared by arrest than by exception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Being cleared and taking a long time are different things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9796" y="1670052"/>
            <a:ext cx="5918966" cy="328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>
            <p:ph type="title"/>
          </p:nvPr>
        </p:nvSpPr>
        <p:spPr>
          <a:xfrm>
            <a:off x="630936" y="640080"/>
            <a:ext cx="4818888" cy="14813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Clearance rate varies by case type and district</a:t>
            </a:r>
            <a:b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43278" y="2372868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>
            <p:ph idx="1" type="body"/>
          </p:nvPr>
        </p:nvSpPr>
        <p:spPr>
          <a:xfrm>
            <a:off x="630936" y="2660904"/>
            <a:ext cx="4818888" cy="3547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Theft cases were rarely cleared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Assault and shoplifting cases were cleared more often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Results also differed by police district</a:t>
            </a:r>
            <a:endParaRPr/>
          </a:p>
        </p:txBody>
      </p:sp>
      <p:pic>
        <p:nvPicPr>
          <p:cNvPr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9048" y="1634364"/>
            <a:ext cx="5458968" cy="3589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 txBox="1"/>
          <p:nvPr>
            <p:ph type="title"/>
          </p:nvPr>
        </p:nvSpPr>
        <p:spPr>
          <a:xfrm>
            <a:off x="793662" y="386930"/>
            <a:ext cx="1006612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Times New Roman"/>
              <a:buNone/>
            </a:pPr>
            <a:r>
              <a:rPr b="1" lang="en-US" sz="4100">
                <a:latin typeface="Times New Roman"/>
                <a:ea typeface="Times New Roman"/>
                <a:cs typeface="Times New Roman"/>
                <a:sym typeface="Times New Roman"/>
              </a:rPr>
              <a:t>Some cleared case types take much longer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5"/>
          <p:cNvSpPr/>
          <p:nvPr/>
        </p:nvSpPr>
        <p:spPr>
          <a:xfrm rot="10800000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 txBox="1"/>
          <p:nvPr>
            <p:ph idx="1" type="body"/>
          </p:nvPr>
        </p:nvSpPr>
        <p:spPr>
          <a:xfrm>
            <a:off x="793661" y="2599509"/>
            <a:ext cx="4530898" cy="363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Some types were cleared faster than others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Rape and robbery took the longest on average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Cases of the same type still varied a lot</a:t>
            </a:r>
            <a:endParaRPr/>
          </a:p>
        </p:txBody>
      </p:sp>
      <p:pic>
        <p:nvPicPr>
          <p:cNvPr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1532" y="2654662"/>
            <a:ext cx="5150277" cy="337343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/>
          <p:nvPr/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 txBox="1"/>
          <p:nvPr>
            <p:ph type="title"/>
          </p:nvPr>
        </p:nvSpPr>
        <p:spPr>
          <a:xfrm>
            <a:off x="630936" y="640080"/>
            <a:ext cx="4818888" cy="14813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Exception clearances took about 16 extra days</a:t>
            </a:r>
            <a:b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43278" y="2372868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/>
          <p:nvPr>
            <p:ph idx="1" type="body"/>
          </p:nvPr>
        </p:nvSpPr>
        <p:spPr>
          <a:xfrm>
            <a:off x="630936" y="2660904"/>
            <a:ext cx="4818888" cy="3547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Arrest cases: about 19 days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Exception cases: about 35 days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Exception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cases took about 16 extra days; p &lt; 0.001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" name="Google Shape;1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9048" y="1777662"/>
            <a:ext cx="5458968" cy="330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54416" y="365125"/>
            <a:ext cx="11167447" cy="208931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1E1E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C5C5C5">
                <a:alpha val="5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 txBox="1"/>
          <p:nvPr>
            <p:ph type="title"/>
          </p:nvPr>
        </p:nvSpPr>
        <p:spPr>
          <a:xfrm>
            <a:off x="1046746" y="641850"/>
            <a:ext cx="3611880" cy="1535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The difference appears within several crime types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 txBox="1"/>
          <p:nvPr>
            <p:ph idx="1" type="body"/>
          </p:nvPr>
        </p:nvSpPr>
        <p:spPr>
          <a:xfrm>
            <a:off x="5300640" y="641850"/>
            <a:ext cx="6053160" cy="1535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Exception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cases took longer in 7 of 9 crime types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This was not caused by only one type of crime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Robbery and rape had especially long O-case times</a:t>
            </a:r>
            <a:endParaRPr/>
          </a:p>
        </p:txBody>
      </p:sp>
      <p:pic>
        <p:nvPicPr>
          <p:cNvPr id="161" name="Google Shape;161;p7"/>
          <p:cNvPicPr preferRelativeResize="0"/>
          <p:nvPr/>
        </p:nvPicPr>
        <p:blipFill rotWithShape="1">
          <a:blip r:embed="rId3">
            <a:alphaModFix/>
          </a:blip>
          <a:srcRect b="8068" l="0" r="1" t="22585"/>
          <a:stretch/>
        </p:blipFill>
        <p:spPr>
          <a:xfrm>
            <a:off x="554416" y="2731167"/>
            <a:ext cx="11167447" cy="3484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1E1E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5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Times New Roman"/>
              <a:buNone/>
            </a:pPr>
            <a:r>
              <a:rPr b="1" lang="en-US" sz="3700">
                <a:latin typeface="Times New Roman"/>
                <a:ea typeface="Times New Roman"/>
                <a:cs typeface="Times New Roman"/>
                <a:sym typeface="Times New Roman"/>
              </a:rPr>
              <a:t>Zip-code crime volume was not a reliable predictor</a:t>
            </a:r>
            <a:endParaRPr sz="3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8"/>
          <p:cNvPicPr preferRelativeResize="0"/>
          <p:nvPr/>
        </p:nvPicPr>
        <p:blipFill rotWithShape="1">
          <a:blip r:embed="rId3">
            <a:alphaModFix/>
          </a:blip>
          <a:srcRect b="2" l="0" r="2" t="857"/>
          <a:stretch/>
        </p:blipFill>
        <p:spPr>
          <a:xfrm>
            <a:off x="908304" y="2478024"/>
            <a:ext cx="6009855" cy="369417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 txBox="1"/>
          <p:nvPr>
            <p:ph idx="1" type="body"/>
          </p:nvPr>
        </p:nvSpPr>
        <p:spPr>
          <a:xfrm>
            <a:off x="7411453" y="2478024"/>
            <a:ext cx="3872243" cy="369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Pearson r = 0.274, p = 0.100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pattern was small and not statistically significant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More crime reports did not clearly mean more or fewer cleared cases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" name="Google Shape;178;p9"/>
          <p:cNvGrpSpPr/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</p:grpSpPr>
        <p:sp>
          <p:nvSpPr>
            <p:cNvPr id="179" name="Google Shape;179;p9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9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" name="Google Shape;182;p9"/>
          <p:cNvSpPr/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 txBox="1"/>
          <p:nvPr>
            <p:ph type="title"/>
          </p:nvPr>
        </p:nvSpPr>
        <p:spPr>
          <a:xfrm>
            <a:off x="1043631" y="809898"/>
            <a:ext cx="994271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Takeaway</a:t>
            </a:r>
            <a:endParaRPr/>
          </a:p>
        </p:txBody>
      </p:sp>
      <p:sp>
        <p:nvSpPr>
          <p:cNvPr id="184" name="Google Shape;184;p9"/>
          <p:cNvSpPr txBox="1"/>
          <p:nvPr>
            <p:ph idx="1" type="body"/>
          </p:nvPr>
        </p:nvSpPr>
        <p:spPr>
          <a:xfrm>
            <a:off x="1045028" y="3017522"/>
            <a:ext cx="9941319" cy="3124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Most cases were not cleared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Cases cleared by exception usually took longer than cases cleared by arrest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data does not tell us why a case was cleared by exception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Use the results to guide review, not to blame a district or officer</a:t>
            </a:r>
            <a:endParaRPr/>
          </a:p>
        </p:txBody>
      </p:sp>
      <p:cxnSp>
        <p:nvCxnSpPr>
          <p:cNvPr id="185" name="Google Shape;185;p9"/>
          <p:cNvCxnSpPr/>
          <p:nvPr/>
        </p:nvCxnSpPr>
        <p:spPr>
          <a:xfrm rot="10800000">
            <a:off x="838200" y="6485313"/>
            <a:ext cx="10515600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 txBox="1"/>
          <p:nvPr>
            <p:ph type="title"/>
          </p:nvPr>
        </p:nvSpPr>
        <p:spPr>
          <a:xfrm>
            <a:off x="1524000" y="1293338"/>
            <a:ext cx="9144000" cy="327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Times New Roman"/>
              <a:buNone/>
            </a:pPr>
            <a:r>
              <a:rPr lang="en-US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/>
          </a:p>
        </p:txBody>
      </p:sp>
      <p:cxnSp>
        <p:nvCxnSpPr>
          <p:cNvPr id="194" name="Google Shape;194;p10"/>
          <p:cNvCxnSpPr/>
          <p:nvPr/>
        </p:nvCxnSpPr>
        <p:spPr>
          <a:xfrm rot="10800000">
            <a:off x="596464" y="6354708"/>
            <a:ext cx="11000232" cy="0"/>
          </a:xfrm>
          <a:prstGeom prst="straightConnector1">
            <a:avLst/>
          </a:prstGeom>
          <a:noFill/>
          <a:ln cap="flat" cmpd="sng" w="101600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2026-09-24T23:40:24Z</dcterms:created>
  <dc:creator>PRASHANT ARYAL</dc:creator>
</cp:coreProperties>
</file>